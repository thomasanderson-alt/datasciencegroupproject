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93" r:id="rId6"/>
    <p:sldId id="290" r:id="rId7"/>
    <p:sldId id="295" r:id="rId8"/>
    <p:sldId id="296" r:id="rId9"/>
    <p:sldId id="288" r:id="rId10"/>
    <p:sldId id="289" r:id="rId11"/>
    <p:sldId id="294" r:id="rId12"/>
    <p:sldId id="291" r:id="rId13"/>
    <p:sldId id="2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73" autoAdjust="0"/>
  </p:normalViewPr>
  <p:slideViewPr>
    <p:cSldViewPr snapToGrid="0">
      <p:cViewPr varScale="1">
        <p:scale>
          <a:sx n="105" d="100"/>
          <a:sy n="105" d="100"/>
        </p:scale>
        <p:origin x="83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F1EC9-B3D5-0B98-C58E-292706A6E58F}"/>
              </a:ext>
            </a:extLst>
          </p:cNvPr>
          <p:cNvSpPr txBox="1"/>
          <p:nvPr userDrawn="1"/>
        </p:nvSpPr>
        <p:spPr>
          <a:xfrm>
            <a:off x="19878" y="6581000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59214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874C67-6171-B87F-8D1B-318E0CC120E9}"/>
              </a:ext>
            </a:extLst>
          </p:cNvPr>
          <p:cNvSpPr txBox="1"/>
          <p:nvPr userDrawn="1"/>
        </p:nvSpPr>
        <p:spPr>
          <a:xfrm>
            <a:off x="0" y="6575588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9049A-52E7-BDEF-5B8B-4A286D0B7FA0}"/>
              </a:ext>
            </a:extLst>
          </p:cNvPr>
          <p:cNvSpPr txBox="1"/>
          <p:nvPr userDrawn="1"/>
        </p:nvSpPr>
        <p:spPr>
          <a:xfrm>
            <a:off x="-1" y="6590626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B3220-0FA3-E0C0-F9D3-347DBB1A746E}"/>
              </a:ext>
            </a:extLst>
          </p:cNvPr>
          <p:cNvSpPr txBox="1"/>
          <p:nvPr userDrawn="1"/>
        </p:nvSpPr>
        <p:spPr>
          <a:xfrm>
            <a:off x="-1" y="6589906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3D0814-827B-C780-123C-9E3B982E07BA}"/>
              </a:ext>
            </a:extLst>
          </p:cNvPr>
          <p:cNvSpPr txBox="1"/>
          <p:nvPr userDrawn="1"/>
        </p:nvSpPr>
        <p:spPr>
          <a:xfrm>
            <a:off x="-2" y="6607192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109D1-FC76-7428-CA66-8C6912EDFA29}"/>
              </a:ext>
            </a:extLst>
          </p:cNvPr>
          <p:cNvSpPr txBox="1"/>
          <p:nvPr userDrawn="1"/>
        </p:nvSpPr>
        <p:spPr>
          <a:xfrm>
            <a:off x="0" y="6585746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0DF6C-F61F-3B7F-EC01-8F906FEA616A}"/>
              </a:ext>
            </a:extLst>
          </p:cNvPr>
          <p:cNvSpPr txBox="1"/>
          <p:nvPr userDrawn="1"/>
        </p:nvSpPr>
        <p:spPr>
          <a:xfrm>
            <a:off x="0" y="6581000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72A48-B02A-BF14-AF9A-ED7D32B0B31B}"/>
              </a:ext>
            </a:extLst>
          </p:cNvPr>
          <p:cNvSpPr txBox="1"/>
          <p:nvPr userDrawn="1"/>
        </p:nvSpPr>
        <p:spPr>
          <a:xfrm>
            <a:off x="0" y="6607192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18AE4-41DE-2F11-9457-DE41630955B8}"/>
              </a:ext>
            </a:extLst>
          </p:cNvPr>
          <p:cNvSpPr txBox="1"/>
          <p:nvPr userDrawn="1"/>
        </p:nvSpPr>
        <p:spPr>
          <a:xfrm>
            <a:off x="-2" y="6585746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7470C-5E51-C83D-4876-545F6E6B0FDE}"/>
              </a:ext>
            </a:extLst>
          </p:cNvPr>
          <p:cNvSpPr txBox="1"/>
          <p:nvPr userDrawn="1"/>
        </p:nvSpPr>
        <p:spPr>
          <a:xfrm>
            <a:off x="-2" y="6607192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8F1CC-738D-378F-1BE9-79BD508A6ED6}"/>
              </a:ext>
            </a:extLst>
          </p:cNvPr>
          <p:cNvSpPr txBox="1"/>
          <p:nvPr userDrawn="1"/>
        </p:nvSpPr>
        <p:spPr>
          <a:xfrm>
            <a:off x="-2" y="6607192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E443B-BF33-E6A6-BFF2-CE4CF3074642}"/>
              </a:ext>
            </a:extLst>
          </p:cNvPr>
          <p:cNvSpPr txBox="1"/>
          <p:nvPr userDrawn="1"/>
        </p:nvSpPr>
        <p:spPr>
          <a:xfrm>
            <a:off x="0" y="6605752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E6A4C-9B8E-962A-04B3-28CE884A36A1}"/>
              </a:ext>
            </a:extLst>
          </p:cNvPr>
          <p:cNvSpPr txBox="1"/>
          <p:nvPr userDrawn="1"/>
        </p:nvSpPr>
        <p:spPr>
          <a:xfrm>
            <a:off x="-2" y="6581000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63E70-81CD-B326-35F2-900228E01F9C}"/>
              </a:ext>
            </a:extLst>
          </p:cNvPr>
          <p:cNvSpPr txBox="1"/>
          <p:nvPr userDrawn="1"/>
        </p:nvSpPr>
        <p:spPr>
          <a:xfrm>
            <a:off x="0" y="6581000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7C756-7A64-EB15-5AFE-36FE33D93E05}"/>
              </a:ext>
            </a:extLst>
          </p:cNvPr>
          <p:cNvSpPr txBox="1"/>
          <p:nvPr userDrawn="1"/>
        </p:nvSpPr>
        <p:spPr>
          <a:xfrm>
            <a:off x="-2" y="6607192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598448-51C0-8D19-080D-DC5C57D90562}"/>
              </a:ext>
            </a:extLst>
          </p:cNvPr>
          <p:cNvSpPr txBox="1"/>
          <p:nvPr userDrawn="1"/>
        </p:nvSpPr>
        <p:spPr>
          <a:xfrm>
            <a:off x="0" y="6607192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AD9BA-12BF-4ACC-75A5-EA4750DD4CAD}"/>
              </a:ext>
            </a:extLst>
          </p:cNvPr>
          <p:cNvSpPr txBox="1"/>
          <p:nvPr userDrawn="1"/>
        </p:nvSpPr>
        <p:spPr>
          <a:xfrm>
            <a:off x="0" y="6581001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13059-01F1-0329-AE17-091E642B064C}"/>
              </a:ext>
            </a:extLst>
          </p:cNvPr>
          <p:cNvSpPr txBox="1"/>
          <p:nvPr userDrawn="1"/>
        </p:nvSpPr>
        <p:spPr>
          <a:xfrm>
            <a:off x="0" y="6581001"/>
            <a:ext cx="41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University of Birmingham | School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000" dirty="0"/>
              <a:t>Spatiotemporal Evolution and Driving Mechanisms of UK Electric Vehicle Adoption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Neue Haas Grotesk Text Pro" panose="020B0504020202020204" pitchFamily="34" charset="0"/>
              </a:rPr>
              <a:t>A Data-Driven Roadmap to the 2030 Decarbonisation Targets</a:t>
            </a:r>
            <a:endParaRPr lang="en-US" dirty="0">
              <a:latin typeface="Neue Haas Grotesk Text Pro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4B1D0-7482-10D2-85C0-D0AF51C3E09D}"/>
              </a:ext>
            </a:extLst>
          </p:cNvPr>
          <p:cNvSpPr txBox="1"/>
          <p:nvPr/>
        </p:nvSpPr>
        <p:spPr>
          <a:xfrm>
            <a:off x="2761488" y="5149970"/>
            <a:ext cx="7306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Presenter: Group 1 (Chenxi Hu, Jipeng Song, Yiding Wang, Yuan Lu)</a:t>
            </a:r>
          </a:p>
          <a:p>
            <a:r>
              <a:rPr lang="en-GB" dirty="0">
                <a:solidFill>
                  <a:schemeClr val="bg1"/>
                </a:solidFill>
              </a:rPr>
              <a:t>Date: 11/03/2026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6DC5-0522-F5AD-F3BD-DF3453FAD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ue Haas Grotesk Text Pro" panose="020B0504020202020204" pitchFamily="34" charset="0"/>
              </a:rPr>
              <a:t>Background &amp; Research Scope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CD787F-1764-DE94-B65B-CC289545C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Background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C3EBDB-EA73-84EE-AA19-61EC54089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2800" dirty="0"/>
              <a:t>Questions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8BDE95-369C-9A3A-8479-8AA2FFD2A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272089" cy="3684588"/>
          </a:xfrm>
        </p:spPr>
        <p:txBody>
          <a:bodyPr>
            <a:normAutofit/>
          </a:bodyPr>
          <a:lstStyle/>
          <a:p>
            <a:r>
              <a:rPr lang="en-GB" sz="2000" b="1" dirty="0">
                <a:latin typeface="Neue Haas Grotesk Text Pro" panose="020B0504020202020204" pitchFamily="34" charset="0"/>
              </a:rPr>
              <a:t>Emissions Context: </a:t>
            </a:r>
            <a:r>
              <a:rPr lang="en-GB" sz="2000" dirty="0">
                <a:latin typeface="Neue Haas Grotesk Text Pro" panose="020B0504020202020204" pitchFamily="34" charset="0"/>
              </a:rPr>
              <a:t>Transport accounts for </a:t>
            </a:r>
            <a:r>
              <a:rPr lang="en-GB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</a:rPr>
              <a:t>29.1%</a:t>
            </a:r>
            <a:r>
              <a:rPr lang="en-GB" sz="2000" dirty="0">
                <a:latin typeface="Neue Haas Grotesk Text Pro" panose="020B0504020202020204" pitchFamily="34" charset="0"/>
              </a:rPr>
              <a:t> of UK greenhouse gas emissions (2023).</a:t>
            </a:r>
          </a:p>
          <a:p>
            <a:r>
              <a:rPr lang="en-GB" sz="2000" b="1" dirty="0">
                <a:latin typeface="Neue Haas Grotesk Text Pro" panose="020B0504020202020204" pitchFamily="34" charset="0"/>
              </a:rPr>
              <a:t>The ZEV Mandate: </a:t>
            </a:r>
            <a:r>
              <a:rPr lang="en-GB" sz="2000" dirty="0">
                <a:latin typeface="Neue Haas Grotesk Text Pro" panose="020B0504020202020204" pitchFamily="34" charset="0"/>
              </a:rPr>
              <a:t>Automakers are legally required to achieve </a:t>
            </a:r>
            <a:r>
              <a:rPr lang="en-GB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</a:rPr>
              <a:t>80%</a:t>
            </a:r>
            <a:r>
              <a:rPr lang="en-GB" sz="2000" dirty="0">
                <a:latin typeface="Neue Haas Grotesk Text Pro" panose="020B0504020202020204" pitchFamily="34" charset="0"/>
              </a:rPr>
              <a:t> zero-emission vehicle sales by 2030.</a:t>
            </a:r>
          </a:p>
          <a:p>
            <a:r>
              <a:rPr lang="en-GB" sz="2000" b="1" dirty="0">
                <a:latin typeface="Neue Haas Grotesk Text Pro" panose="020B0504020202020204" pitchFamily="34" charset="0"/>
              </a:rPr>
              <a:t>Research Pillars:</a:t>
            </a:r>
            <a:r>
              <a:rPr lang="en-GB" sz="2000" dirty="0">
                <a:latin typeface="Neue Haas Grotesk Text Pro" panose="020B0504020202020204" pitchFamily="34" charset="0"/>
              </a:rPr>
              <a:t> Spatiotemporal evolution, socio-economic/infrastructure driving mechanisms, and 2030 predictive forecasting.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DF5E73E-9F85-0B12-9120-558E798879B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GB" sz="1900" b="1" dirty="0">
                <a:latin typeface="Neue Haas Grotesk Text Pro" panose="020B0504020202020204" pitchFamily="34" charset="0"/>
              </a:rPr>
              <a:t>Spatiotemporal Evolution: </a:t>
            </a:r>
            <a:r>
              <a:rPr lang="en-GB" sz="1900" dirty="0">
                <a:latin typeface="Neue Haas Grotesk Text Pro" panose="020B0504020202020204" pitchFamily="34" charset="0"/>
              </a:rPr>
              <a:t>Do EV ownership levels and growth rates show significant variation?</a:t>
            </a:r>
          </a:p>
          <a:p>
            <a:r>
              <a:rPr lang="en-GB" sz="1900" b="1" dirty="0">
                <a:latin typeface="Neue Haas Grotesk Text Pro" panose="020B0504020202020204" pitchFamily="34" charset="0"/>
              </a:rPr>
              <a:t>Socio-economic Drivers: </a:t>
            </a:r>
            <a:r>
              <a:rPr lang="en-GB" sz="1900" dirty="0">
                <a:latin typeface="Neue Haas Grotesk Text Pro" panose="020B0504020202020204" pitchFamily="34" charset="0"/>
              </a:rPr>
              <a:t>How do wealth and government incentives impact penetration?</a:t>
            </a:r>
          </a:p>
          <a:p>
            <a:r>
              <a:rPr lang="en-GB" sz="1900" b="1" dirty="0">
                <a:latin typeface="Neue Haas Grotesk Text Pro" panose="020B0504020202020204" pitchFamily="34" charset="0"/>
              </a:rPr>
              <a:t>Infrastructure Causality:</a:t>
            </a:r>
            <a:r>
              <a:rPr lang="en-GB" sz="1900" dirty="0">
                <a:latin typeface="Neue Haas Grotesk Text Pro" panose="020B0504020202020204" pitchFamily="34" charset="0"/>
              </a:rPr>
              <a:t> Is there a mutual relationship between charging deployment and EV uptake?</a:t>
            </a:r>
          </a:p>
          <a:p>
            <a:r>
              <a:rPr lang="en-GB" sz="1900" b="1" dirty="0">
                <a:latin typeface="Neue Haas Grotesk Text Pro" panose="020B0504020202020204" pitchFamily="34" charset="0"/>
              </a:rPr>
              <a:t>Target Feasibility: </a:t>
            </a:r>
            <a:r>
              <a:rPr lang="en-GB" sz="1900" dirty="0">
                <a:latin typeface="Neue Haas Grotesk Text Pro" panose="020B0504020202020204" pitchFamily="34" charset="0"/>
              </a:rPr>
              <a:t>Does the data suggest the 2030 targets are mathematically achievable?</a:t>
            </a:r>
          </a:p>
        </p:txBody>
      </p:sp>
    </p:spTree>
    <p:extLst>
      <p:ext uri="{BB962C8B-B14F-4D97-AF65-F5344CB8AC3E}">
        <p14:creationId xmlns:p14="http://schemas.microsoft.com/office/powerpoint/2010/main" val="422224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1F5FC-A4D0-538E-FCA9-890248A8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2BD0313-3D4A-6ADE-4B4F-23823CFB5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GB" dirty="0">
                <a:latin typeface="Neue Haas Grotesk Text Pro" panose="020B0504020202020204" pitchFamily="34" charset="0"/>
              </a:rPr>
              <a:t>The "Green Divide"</a:t>
            </a:r>
            <a:endParaRPr lang="en-US" dirty="0">
              <a:latin typeface="Neue Haas Grotesk Text Pro" panose="020B0504020202020204" pitchFamily="34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77220F0-80F6-AEC5-8CD8-CA3A63503C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533400" y="3032185"/>
            <a:ext cx="5470525" cy="3213933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47ECFB3A-C7F3-502F-848D-E4CD85D3F1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6208159" y="3032186"/>
            <a:ext cx="5450441" cy="32139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893F941-3588-9B33-B3E8-F56ECC48FB6C}"/>
              </a:ext>
            </a:extLst>
          </p:cNvPr>
          <p:cNvSpPr txBox="1"/>
          <p:nvPr/>
        </p:nvSpPr>
        <p:spPr>
          <a:xfrm>
            <a:off x="488950" y="1360408"/>
            <a:ext cx="11214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Observation: 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EV adoption exhibits severe geographic inequality rather than uniform national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The "Green Divide":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 Free-market dynamics have rapidly accelerated adoption in affluent areas (London/Southeast) while leaving less-developed regions (Northern Ireland/Wales) behind.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The Threat: 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By 2025, the absolute penetration gap widened to nearly </a:t>
            </a:r>
            <a:r>
              <a:rPr lang="en-GB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seven percentage (7%) 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points, threatening national targets.</a:t>
            </a:r>
          </a:p>
        </p:txBody>
      </p:sp>
    </p:spTree>
    <p:extLst>
      <p:ext uri="{BB962C8B-B14F-4D97-AF65-F5344CB8AC3E}">
        <p14:creationId xmlns:p14="http://schemas.microsoft.com/office/powerpoint/2010/main" val="240253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2ACD-5692-0C1B-B2C9-EFDF35532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13270A-18B3-DE21-FEB4-2708153F2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GB" dirty="0">
                <a:latin typeface="Neue Haas Grotesk Text Pro" panose="020B0504020202020204" pitchFamily="34" charset="0"/>
              </a:rPr>
              <a:t>The Wealth Constraint</a:t>
            </a:r>
            <a:endParaRPr lang="en-US" dirty="0">
              <a:latin typeface="Neue Haas Grotesk Text Pro" panose="020B0504020202020204" pitchFamily="34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F5A1E1E9-28FF-8403-1B68-3BD3562EB7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533400" y="3391733"/>
            <a:ext cx="5470525" cy="3213933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C7D9242-B659-F434-C2CA-5A83E4341C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6208159" y="3391733"/>
            <a:ext cx="5450441" cy="32139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6AE9D2F-377A-6B66-EFAD-282AD5C680C3}"/>
              </a:ext>
            </a:extLst>
          </p:cNvPr>
          <p:cNvSpPr txBox="1"/>
          <p:nvPr/>
        </p:nvSpPr>
        <p:spPr>
          <a:xfrm>
            <a:off x="488950" y="1360408"/>
            <a:ext cx="11214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Car Ownership Paradox: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 London has the lowest vehicle ownership </a:t>
            </a:r>
            <a:r>
              <a:rPr lang="en-GB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(&lt;3,000/10k people) 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but the one of highest EV penetration </a:t>
            </a:r>
            <a:r>
              <a:rPr lang="en-GB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(10.8%)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. This stark contrast indicates a distinct, wealthier demographic of early adopters.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Premium Reality: 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EVs are premium goods strictly bottlenecked by absolute purchasing power; policy intervention is mathematically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Call to Action: </a:t>
            </a:r>
            <a:r>
              <a:rPr lang="en-GB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Because adoption is bottlenecked by absolute purchasing power, targeted policy intervention is mathematically required.</a:t>
            </a:r>
          </a:p>
        </p:txBody>
      </p:sp>
    </p:spTree>
    <p:extLst>
      <p:ext uri="{BB962C8B-B14F-4D97-AF65-F5344CB8AC3E}">
        <p14:creationId xmlns:p14="http://schemas.microsoft.com/office/powerpoint/2010/main" val="125086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5A265-E13F-8EE2-E54E-B7F4F1C97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88DACFB-5EA7-CB69-E84F-F12D1D51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b="1" kern="1200" spc="-70" baseline="0" dirty="0">
                <a:latin typeface="Neue Haas Grotesk Text Pro" panose="020B0504020202020204" pitchFamily="34" charset="0"/>
              </a:rPr>
              <a:t>Feature Importance Attribution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0E10FF-1229-673E-D44D-3CB2C6EA0E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4118" y="1387165"/>
            <a:ext cx="10924482" cy="1463040"/>
          </a:xfrm>
        </p:spPr>
        <p:txBody>
          <a:bodyPr/>
          <a:lstStyle/>
          <a:p>
            <a:r>
              <a:rPr lang="en-GB" sz="1600" b="1" dirty="0">
                <a:latin typeface="Neue Haas Grotesk Text Pro" panose="020B0504020202020204" pitchFamily="34" charset="0"/>
              </a:rPr>
              <a:t>Methodology: </a:t>
            </a:r>
            <a:r>
              <a:rPr lang="en-GB" sz="1600" dirty="0">
                <a:latin typeface="Neue Haas Grotesk Text Pro" panose="020B0504020202020204" pitchFamily="34" charset="0"/>
              </a:rPr>
              <a:t>We utilized </a:t>
            </a:r>
            <a:r>
              <a:rPr lang="en-GB" sz="1600" dirty="0" err="1">
                <a:latin typeface="Neue Haas Grotesk Text Pro" panose="020B0504020202020204" pitchFamily="34" charset="0"/>
              </a:rPr>
              <a:t>XGBoost</a:t>
            </a:r>
            <a:r>
              <a:rPr lang="en-GB" sz="1600" dirty="0">
                <a:latin typeface="Neue Haas Grotesk Text Pro" panose="020B0504020202020204" pitchFamily="34" charset="0"/>
              </a:rPr>
              <a:t> to capture complex non-linear relationships, integrated with the SHAP framework to precisely quantify global marginal contributions.</a:t>
            </a:r>
          </a:p>
          <a:p>
            <a:r>
              <a:rPr lang="en-GB" sz="1600" b="1" dirty="0">
                <a:latin typeface="Neue Haas Grotesk Text Pro" panose="020B0504020202020204" pitchFamily="34" charset="0"/>
              </a:rPr>
              <a:t>Key Drivers: </a:t>
            </a:r>
            <a:r>
              <a:rPr lang="en-GB" sz="1600" dirty="0">
                <a:latin typeface="Neue Haas Grotesk Text Pro" panose="020B0504020202020204" pitchFamily="34" charset="0"/>
              </a:rPr>
              <a:t>Outside of the natural progression of time, Lagged Charging Port Density </a:t>
            </a:r>
            <a:r>
              <a:rPr lang="en-GB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</a:rPr>
              <a:t>(21.9%) </a:t>
            </a:r>
            <a:r>
              <a:rPr lang="en-GB" sz="1600" dirty="0">
                <a:latin typeface="Neue Haas Grotesk Text Pro" panose="020B0504020202020204" pitchFamily="34" charset="0"/>
              </a:rPr>
              <a:t>and Per Capita GDHI </a:t>
            </a:r>
            <a:r>
              <a:rPr lang="en-GB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</a:rPr>
              <a:t>(18.5%) </a:t>
            </a:r>
            <a:r>
              <a:rPr lang="en-GB" sz="1600" dirty="0">
                <a:latin typeface="Neue Haas Grotesk Text Pro" panose="020B0504020202020204" pitchFamily="34" charset="0"/>
              </a:rPr>
              <a:t>emerge as the absolute dominant drivers. (Population scale follows at </a:t>
            </a:r>
            <a:r>
              <a:rPr lang="en-GB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</a:rPr>
              <a:t>19.6%</a:t>
            </a:r>
            <a:r>
              <a:rPr lang="en-GB" sz="1600" dirty="0">
                <a:latin typeface="Neue Haas Grotesk Text Pro" panose="020B0504020202020204" pitchFamily="34" charset="0"/>
              </a:rPr>
              <a:t>).</a:t>
            </a:r>
          </a:p>
          <a:p>
            <a:r>
              <a:rPr lang="en-GB" sz="1600" b="1" dirty="0">
                <a:latin typeface="Neue Haas Grotesk Text Pro" panose="020B0504020202020204" pitchFamily="34" charset="0"/>
              </a:rPr>
              <a:t>Impact Direction: </a:t>
            </a:r>
            <a:r>
              <a:rPr lang="en-GB" sz="1600" dirty="0">
                <a:latin typeface="Neue Haas Grotesk Text Pro" panose="020B0504020202020204" pitchFamily="34" charset="0"/>
              </a:rPr>
              <a:t>High income and dense infrastructure exert a powerful positive stimulus on EV penetration, with charging ports creating a distinct long-tail acceleration effect.</a:t>
            </a:r>
          </a:p>
          <a:p>
            <a:endParaRPr lang="en-GB" sz="1600" dirty="0">
              <a:latin typeface="Neue Haas Grotesk Text Pro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77B6FE-8465-5F42-F6BC-F7EAC8192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59" y="3158914"/>
            <a:ext cx="8551165" cy="353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6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7F465-9F2B-17DB-A938-FED4E933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9C99FD2-8C5B-BD92-BCF1-874E48472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GB" dirty="0">
                <a:latin typeface="Neue Haas Grotesk Text Pro" panose="020B0504020202020204" pitchFamily="34" charset="0"/>
              </a:rPr>
              <a:t>Unlocking Tipping Points</a:t>
            </a:r>
            <a:endParaRPr lang="en-US" dirty="0">
              <a:latin typeface="Neue Haas Grotesk Text Pro" panose="020B05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52237-4D87-3A24-8D01-5325DAD72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555" y="1344732"/>
            <a:ext cx="5157787" cy="823912"/>
          </a:xfrm>
        </p:spPr>
        <p:txBody>
          <a:bodyPr>
            <a:noAutofit/>
          </a:bodyPr>
          <a:lstStyle/>
          <a:p>
            <a:r>
              <a:rPr lang="en-GB" sz="140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The Wealth Prerequisite: </a:t>
            </a:r>
          </a:p>
          <a:p>
            <a:r>
              <a:rPr lang="en-GB" sz="1400" b="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GDHI acts as a massive accelerator, but only </a:t>
            </a:r>
            <a:r>
              <a:rPr lang="en-GB" sz="1400" b="0" i="1" dirty="0">
                <a:latin typeface="Neue Haas Grotesk Text Pro" panose="020B0504020202020204" pitchFamily="34" charset="0"/>
                <a:ea typeface="Roboto" panose="02000000000000000000" pitchFamily="2" charset="0"/>
              </a:rPr>
              <a:t>after</a:t>
            </a:r>
            <a:r>
              <a:rPr lang="en-GB" sz="1400" b="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 crossing a critical </a:t>
            </a:r>
            <a:r>
              <a:rPr lang="en-GB" sz="1400" b="0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£20,000–£35,000 </a:t>
            </a:r>
            <a:r>
              <a:rPr lang="en-GB" sz="1400" b="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per capita threshold.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0248AE-7EE0-EAA8-15A1-0C57CD072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344732"/>
            <a:ext cx="5157788" cy="823912"/>
          </a:xfrm>
        </p:spPr>
        <p:txBody>
          <a:bodyPr>
            <a:noAutofit/>
          </a:bodyPr>
          <a:lstStyle/>
          <a:p>
            <a:r>
              <a:rPr lang="en-GB" sz="150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The Infrastructure Threshold: </a:t>
            </a:r>
          </a:p>
          <a:p>
            <a:r>
              <a:rPr lang="en-GB" sz="1500" b="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The </a:t>
            </a:r>
            <a:r>
              <a:rPr lang="en-US" altLang="zh-CN" sz="1500" b="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plot</a:t>
            </a:r>
            <a:r>
              <a:rPr lang="en-GB" sz="1500" b="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 proves that adding public chargers in low-adoption areas is ineffective until density crosses a critical mathematical mass of </a:t>
            </a:r>
            <a:r>
              <a:rPr lang="en-GB" sz="1500" b="0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100-150 ports per 10k people.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03A47FB-C68B-CF19-F2D4-4319F653B7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75087" y="2434920"/>
            <a:ext cx="4436722" cy="3697269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F78A146A-7F5E-1717-7F3E-644760F5B69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96660" y="2628190"/>
            <a:ext cx="4966091" cy="331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6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6E19-807E-8DCC-4305-83032DCD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B2F8D6-66E1-12CA-827B-E8AD2A98C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GB" dirty="0">
                <a:latin typeface="Neue Haas Grotesk Text Pro" panose="020B0504020202020204" pitchFamily="34" charset="0"/>
              </a:rPr>
              <a:t>The Forecasting Engine</a:t>
            </a:r>
            <a:endParaRPr lang="en-US" dirty="0">
              <a:latin typeface="Neue Haas Grotesk Text Pro" panose="020B0504020202020204" pitchFamily="34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F5D11F1F-C7EE-AAE3-433A-CA8A486ACC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444500" y="3574235"/>
            <a:ext cx="5470525" cy="3213933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40D15857-E020-9BF9-BF70-08BEAFD010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6977" y="3574235"/>
            <a:ext cx="5450441" cy="32139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B6F614-223E-71CE-A1BD-09FACED2BF56}"/>
                  </a:ext>
                </a:extLst>
              </p:cNvPr>
              <p:cNvSpPr txBox="1"/>
              <p:nvPr/>
            </p:nvSpPr>
            <p:spPr>
              <a:xfrm>
                <a:off x="396875" y="1240310"/>
                <a:ext cx="11214100" cy="2269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b="1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Model Selection: </a:t>
                </a:r>
                <a:r>
                  <a:rPr lang="en-GB" sz="1600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We rejected tree-based algorithms (lack of time-extrapolation) and linear regression (impossible </a:t>
                </a:r>
                <a:r>
                  <a:rPr lang="en-GB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&gt;100% </a:t>
                </a:r>
                <a:r>
                  <a:rPr lang="en-GB" sz="1600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predictions).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b="1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Mathematical Transformation: </a:t>
                </a:r>
                <a:r>
                  <a:rPr lang="en-GB" sz="1600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We mapped real-world percentages into a Logit kinetic space using </a:t>
                </a:r>
              </a:p>
              <a:p>
                <a:pPr lvl="8"/>
                <a:r>
                  <a:rPr lang="en-GB" sz="1600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𝑌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𝑖</m:t>
                        </m:r>
                        <m:r>
                          <a:rPr lang="en-GB" sz="16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r>
                          <a:rPr lang="en-GB" sz="16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𝑡</m:t>
                        </m:r>
                      </m:sub>
                    </m:sSub>
                    <m:r>
                      <a:rPr lang="en-GB" sz="16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n-GB" sz="16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𝑙𝑛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600" b="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16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sz="16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𝑖</m:t>
                                </m:r>
                                <m:r>
                                  <a:rPr lang="en-GB" sz="16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,</m:t>
                                </m:r>
                                <m:r>
                                  <a:rPr lang="en-GB" sz="16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GB" sz="1600" b="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50.24%</m:t>
                            </m:r>
                            <m:r>
                              <a:rPr lang="en-GB" sz="1600" b="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sz="16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sz="16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GB" sz="16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1600" b="0" i="1" smtClean="0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GB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Neue Haas Grotesk Text Pro" panose="020B0504020202020204" pitchFamily="34" charset="0"/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b="1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The Physical Ceiling: </a:t>
                </a:r>
                <a:r>
                  <a:rPr lang="en-GB" sz="1600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Constrained by the 14-year vehicle scrappage cycle, this formula forces adoption rates to naturally decelerate as they approach a strict </a:t>
                </a:r>
                <a:r>
                  <a:rPr lang="en-GB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50.24%</a:t>
                </a:r>
                <a:r>
                  <a:rPr lang="en-GB" sz="1600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 fleet ceiling.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b="1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Base Parameter: </a:t>
                </a:r>
                <a:r>
                  <a:rPr lang="en-GB" sz="1600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To prevent population/vehicle decoupling in the 2035 forecast, we locked the regional car-per-capita drift rate to a strict </a:t>
                </a:r>
                <a14:m>
                  <m:oMath xmlns:m="http://schemas.openxmlformats.org/officeDocument/2006/math">
                    <m:r>
                      <a:rPr lang="en-GB" sz="160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GB" sz="16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0.5% </m:t>
                    </m:r>
                  </m:oMath>
                </a14:m>
                <a:r>
                  <a:rPr lang="en-GB" sz="1600" dirty="0">
                    <a:solidFill>
                      <a:schemeClr val="bg1"/>
                    </a:solidFill>
                    <a:latin typeface="Neue Haas Grotesk Text Pro" panose="020B0504020202020204" pitchFamily="34" charset="0"/>
                    <a:ea typeface="Roboto" panose="02000000000000000000" pitchFamily="2" charset="0"/>
                  </a:rPr>
                  <a:t>annual variance.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B6F614-223E-71CE-A1BD-09FACED2B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75" y="1240310"/>
                <a:ext cx="11214100" cy="2269917"/>
              </a:xfrm>
              <a:prstGeom prst="rect">
                <a:avLst/>
              </a:prstGeom>
              <a:blipFill>
                <a:blip r:embed="rId4"/>
                <a:stretch>
                  <a:fillRect l="-217" t="-804" r="-707" b="-18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76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C3518-1406-78EF-7DC2-FAC1A94DC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20F7505-A0F5-B3FB-45E8-EDA78663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r>
              <a:rPr lang="en-GB" dirty="0">
                <a:latin typeface="Neue Haas Grotesk Text Pro" panose="020B0504020202020204" pitchFamily="34" charset="0"/>
              </a:rPr>
              <a:t>The 2035 Regional Extremes </a:t>
            </a:r>
            <a:endParaRPr lang="en-US" dirty="0">
              <a:latin typeface="Neue Haas Grotesk Text Pro" panose="020B0504020202020204" pitchFamily="34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4FC09B3-576B-BF72-1E43-C688699CD1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513317" y="3033380"/>
            <a:ext cx="5470525" cy="3213933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CEBFAA00-26FC-F89D-2C4D-2CB862EB65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6228242" y="3033380"/>
            <a:ext cx="5450441" cy="32139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EC9793C-F560-D0C4-F83B-EEA2EC13EA17}"/>
              </a:ext>
            </a:extLst>
          </p:cNvPr>
          <p:cNvSpPr txBox="1"/>
          <p:nvPr/>
        </p:nvSpPr>
        <p:spPr>
          <a:xfrm>
            <a:off x="396875" y="1240310"/>
            <a:ext cx="11214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UK Macro Trend: </a:t>
            </a:r>
            <a:r>
              <a:rPr lang="en-GB" sz="2000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Follows a standard S-Curve logistic growth trajectory.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The Leader (England): </a:t>
            </a:r>
            <a:r>
              <a:rPr lang="en-GB" sz="2000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Skews the national average upward, driven by localized wealth and early infrastructure scaling.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The Laggard (Northern Ireland): </a:t>
            </a:r>
            <a:r>
              <a:rPr lang="en-GB" sz="2000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Plunges into an early plateau. Without intervention, it will struggle to break </a:t>
            </a:r>
            <a:r>
              <a:rPr lang="en-GB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30%</a:t>
            </a:r>
            <a:r>
              <a:rPr lang="en-GB" sz="2000" dirty="0">
                <a:solidFill>
                  <a:schemeClr val="bg1"/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 fleet penetration by 2035.</a:t>
            </a:r>
          </a:p>
        </p:txBody>
      </p:sp>
    </p:spTree>
    <p:extLst>
      <p:ext uri="{BB962C8B-B14F-4D97-AF65-F5344CB8AC3E}">
        <p14:creationId xmlns:p14="http://schemas.microsoft.com/office/powerpoint/2010/main" val="175068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30A0-7F71-2418-405D-691327E4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ue Haas Grotesk Text Pro" panose="020B0504020202020204" pitchFamily="34" charset="0"/>
              </a:rPr>
              <a:t>Strategic Recommendations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02610-3E5E-9167-7E63-A23E6C97BA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849672"/>
            <a:ext cx="10666323" cy="4093243"/>
          </a:xfrm>
        </p:spPr>
        <p:txBody>
          <a:bodyPr/>
          <a:lstStyle/>
          <a:p>
            <a:r>
              <a:rPr lang="en-GB" sz="2600" b="1" dirty="0">
                <a:latin typeface="Neue Haas Grotesk Text Pro" panose="020B0504020202020204" pitchFamily="34" charset="0"/>
                <a:ea typeface="Roboto" panose="02000000000000000000" pitchFamily="2" charset="0"/>
              </a:rPr>
              <a:t>Conclusion: </a:t>
            </a:r>
            <a:r>
              <a:rPr lang="en-GB" sz="260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A "one-size-fits-all" national policy structurally fails to close the geographic gap.</a:t>
            </a:r>
          </a:p>
          <a:p>
            <a:r>
              <a:rPr lang="en-GB" sz="2600" b="1" dirty="0">
                <a:latin typeface="Neue Haas Grotesk Text Pro" panose="020B0504020202020204" pitchFamily="34" charset="0"/>
                <a:ea typeface="Roboto" panose="02000000000000000000" pitchFamily="2" charset="0"/>
              </a:rPr>
              <a:t>Asymmetric Subsidies: </a:t>
            </a:r>
            <a:r>
              <a:rPr lang="en-GB" sz="260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Redirect purchase grants strictly toward economically weaker "long-tail" regions (Wales and NI).</a:t>
            </a:r>
          </a:p>
          <a:p>
            <a:r>
              <a:rPr lang="en-GB" sz="2600" b="1" dirty="0">
                <a:latin typeface="Neue Haas Grotesk Text Pro" panose="020B0504020202020204" pitchFamily="34" charset="0"/>
                <a:ea typeface="Roboto" panose="02000000000000000000" pitchFamily="2" charset="0"/>
              </a:rPr>
              <a:t>Targeted Infrastructure: </a:t>
            </a:r>
            <a:r>
              <a:rPr lang="en-GB" sz="260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Prioritize public charger density in  urban centres which reach GHDI per capita threshold to rapidly breach the </a:t>
            </a:r>
            <a:r>
              <a:rPr lang="en-GB" sz="2600" dirty="0">
                <a:solidFill>
                  <a:schemeClr val="accent6">
                    <a:lumMod val="60000"/>
                    <a:lumOff val="40000"/>
                  </a:schemeClr>
                </a:solidFill>
                <a:latin typeface="Neue Haas Grotesk Text Pro" panose="020B0504020202020204" pitchFamily="34" charset="0"/>
                <a:ea typeface="Roboto" panose="02000000000000000000" pitchFamily="2" charset="0"/>
              </a:rPr>
              <a:t>150 ports/10k</a:t>
            </a:r>
            <a:r>
              <a:rPr lang="en-GB" sz="260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 tipping point.</a:t>
            </a:r>
          </a:p>
          <a:p>
            <a:r>
              <a:rPr lang="en-GB" sz="2600" b="1" dirty="0">
                <a:latin typeface="Neue Haas Grotesk Text Pro" panose="020B0504020202020204" pitchFamily="34" charset="0"/>
                <a:ea typeface="Roboto" panose="02000000000000000000" pitchFamily="2" charset="0"/>
              </a:rPr>
              <a:t>Marketing Pivot: </a:t>
            </a:r>
            <a:r>
              <a:rPr lang="en-GB" sz="2600" dirty="0">
                <a:latin typeface="Neue Haas Grotesk Text Pro" panose="020B0504020202020204" pitchFamily="34" charset="0"/>
                <a:ea typeface="Roboto" panose="02000000000000000000" pitchFamily="2" charset="0"/>
              </a:rPr>
              <a:t>Automakers must transition from "selling vehicles" to "selling premium green replacements."</a:t>
            </a:r>
          </a:p>
        </p:txBody>
      </p:sp>
    </p:spTree>
    <p:extLst>
      <p:ext uri="{BB962C8B-B14F-4D97-AF65-F5344CB8AC3E}">
        <p14:creationId xmlns:p14="http://schemas.microsoft.com/office/powerpoint/2010/main" val="265884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FDD-FF53-9B71-2AE0-CDB22D2D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Neue Haas Grotesk Text Pro" panose="020B0504020202020204" pitchFamily="34" charset="0"/>
              </a:rPr>
              <a:t>Team Contributions &amp; Q&amp;A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4E5466-A222-50CB-F71A-C642F44EB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182123"/>
              </p:ext>
            </p:extLst>
          </p:nvPr>
        </p:nvGraphicFramePr>
        <p:xfrm>
          <a:off x="1913827" y="1227662"/>
          <a:ext cx="7962499" cy="5310716"/>
        </p:xfrm>
        <a:graphic>
          <a:graphicData uri="http://schemas.openxmlformats.org/drawingml/2006/table">
            <a:tbl>
              <a:tblPr/>
              <a:tblGrid>
                <a:gridCol w="4188366">
                  <a:extLst>
                    <a:ext uri="{9D8B030D-6E8A-4147-A177-3AD203B41FA5}">
                      <a16:colId xmlns:a16="http://schemas.microsoft.com/office/drawing/2014/main" val="1100313334"/>
                    </a:ext>
                  </a:extLst>
                </a:gridCol>
                <a:gridCol w="3774133">
                  <a:extLst>
                    <a:ext uri="{9D8B030D-6E8A-4147-A177-3AD203B41FA5}">
                      <a16:colId xmlns:a16="http://schemas.microsoft.com/office/drawing/2014/main" val="2881484592"/>
                    </a:ext>
                  </a:extLst>
                </a:gridCol>
              </a:tblGrid>
              <a:tr h="4189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Team Member</a:t>
                      </a:r>
                      <a:endParaRPr lang="en-GB" sz="1400" dirty="0">
                        <a:solidFill>
                          <a:schemeClr val="bg1"/>
                        </a:solidFill>
                        <a:effectLst/>
                        <a:latin typeface="Neue Haas Grotesk Text Pro" panose="020B0504020202020204" pitchFamily="34" charset="0"/>
                        <a:ea typeface="Roboto" panose="02000000000000000000" pitchFamily="2" charset="0"/>
                      </a:endParaRPr>
                    </a:p>
                  </a:txBody>
                  <a:tcPr marL="67289" marR="84111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Core Project Responsibilities</a:t>
                      </a:r>
                      <a:endParaRPr lang="en-GB" sz="1400" dirty="0">
                        <a:solidFill>
                          <a:schemeClr val="bg1"/>
                        </a:solidFill>
                        <a:effectLst/>
                        <a:latin typeface="Neue Haas Grotesk Text Pro" panose="020B0504020202020204" pitchFamily="34" charset="0"/>
                        <a:ea typeface="Roboto" panose="02000000000000000000" pitchFamily="2" charset="0"/>
                      </a:endParaRPr>
                    </a:p>
                  </a:txBody>
                  <a:tcPr marL="67289" marR="67289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430894"/>
                  </a:ext>
                </a:extLst>
              </a:tr>
              <a:tr h="10143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[All Members]</a:t>
                      </a:r>
                      <a:endParaRPr lang="en-GB" sz="1400" dirty="0">
                        <a:solidFill>
                          <a:schemeClr val="bg1"/>
                        </a:solidFill>
                        <a:effectLst/>
                        <a:latin typeface="Neue Haas Grotesk Text Pro" panose="020B0504020202020204" pitchFamily="34" charset="0"/>
                        <a:ea typeface="Roboto" panose="02000000000000000000" pitchFamily="2" charset="0"/>
                      </a:endParaRPr>
                    </a:p>
                  </a:txBody>
                  <a:tcPr marL="67289" marR="84111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Data Cleaning &amp; Preprocessing</a:t>
                      </a:r>
                      <a:endParaRPr lang="en-GB" sz="1400" dirty="0">
                        <a:solidFill>
                          <a:schemeClr val="bg1"/>
                        </a:solidFill>
                        <a:effectLst/>
                        <a:latin typeface="Neue Haas Grotesk Text Pro" panose="020B0504020202020204" pitchFamily="34" charset="0"/>
                        <a:ea typeface="Roboto" panose="02000000000000000000" pitchFamily="2" charset="0"/>
                      </a:endParaRPr>
                    </a:p>
                  </a:txBody>
                  <a:tcPr marL="67289" marR="67289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056504"/>
                  </a:ext>
                </a:extLst>
              </a:tr>
              <a:tr h="10143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[Chenxi Hu, Yuan Lu]</a:t>
                      </a:r>
                      <a:endParaRPr lang="en-GB" sz="1400" dirty="0">
                        <a:solidFill>
                          <a:schemeClr val="bg1"/>
                        </a:solidFill>
                        <a:effectLst/>
                        <a:latin typeface="Neue Haas Grotesk Text Pro" panose="020B0504020202020204" pitchFamily="34" charset="0"/>
                        <a:ea typeface="Roboto" panose="02000000000000000000" pitchFamily="2" charset="0"/>
                      </a:endParaRPr>
                    </a:p>
                  </a:txBody>
                  <a:tcPr marL="67289" marR="84111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Exploratory Analysis </a:t>
                      </a:r>
                    </a:p>
                  </a:txBody>
                  <a:tcPr marL="67289" marR="67289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813216"/>
                  </a:ext>
                </a:extLst>
              </a:tr>
              <a:tr h="8158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[Jipeng Song, Yiding Wang]</a:t>
                      </a:r>
                      <a:endParaRPr lang="en-GB" sz="1400" dirty="0">
                        <a:solidFill>
                          <a:schemeClr val="bg1"/>
                        </a:solidFill>
                        <a:effectLst/>
                        <a:latin typeface="Neue Haas Grotesk Text Pro" panose="020B0504020202020204" pitchFamily="34" charset="0"/>
                        <a:ea typeface="Roboto" panose="02000000000000000000" pitchFamily="2" charset="0"/>
                      </a:endParaRPr>
                    </a:p>
                  </a:txBody>
                  <a:tcPr marL="67289" marR="84111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Feature Weight Analysis &amp; Forecasting Engine</a:t>
                      </a:r>
                      <a:endParaRPr lang="en-GB" sz="1400" dirty="0">
                        <a:solidFill>
                          <a:schemeClr val="bg1"/>
                        </a:solidFill>
                        <a:effectLst/>
                        <a:latin typeface="Neue Haas Grotesk Text Pro" panose="020B0504020202020204" pitchFamily="34" charset="0"/>
                        <a:ea typeface="Roboto" panose="02000000000000000000" pitchFamily="2" charset="0"/>
                      </a:endParaRPr>
                    </a:p>
                  </a:txBody>
                  <a:tcPr marL="67289" marR="67289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002100"/>
                  </a:ext>
                </a:extLst>
              </a:tr>
              <a:tr h="10143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[All Members]</a:t>
                      </a:r>
                      <a:endParaRPr lang="en-GB" sz="1400" dirty="0">
                        <a:solidFill>
                          <a:schemeClr val="bg1"/>
                        </a:solidFill>
                        <a:effectLst/>
                        <a:latin typeface="Neue Haas Grotesk Text Pro" panose="020B0504020202020204" pitchFamily="34" charset="0"/>
                        <a:ea typeface="Roboto" panose="02000000000000000000" pitchFamily="2" charset="0"/>
                      </a:endParaRPr>
                    </a:p>
                  </a:txBody>
                  <a:tcPr marL="67289" marR="84111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Visualization</a:t>
                      </a:r>
                      <a:endParaRPr lang="en-GB" sz="1400" dirty="0">
                        <a:solidFill>
                          <a:schemeClr val="bg1"/>
                        </a:solidFill>
                        <a:effectLst/>
                        <a:latin typeface="Neue Haas Grotesk Text Pro" panose="020B0504020202020204" pitchFamily="34" charset="0"/>
                        <a:ea typeface="Roboto" panose="02000000000000000000" pitchFamily="2" charset="0"/>
                      </a:endParaRPr>
                    </a:p>
                  </a:txBody>
                  <a:tcPr marL="67289" marR="67289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170555"/>
                  </a:ext>
                </a:extLst>
              </a:tr>
              <a:tr h="10143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[Yiding Wang]</a:t>
                      </a:r>
                    </a:p>
                  </a:txBody>
                  <a:tcPr marL="67289" marR="84111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effectLst/>
                          <a:latin typeface="Neue Haas Grotesk Text Pro" panose="020B0504020202020204" pitchFamily="34" charset="0"/>
                          <a:ea typeface="Roboto" panose="02000000000000000000" pitchFamily="2" charset="0"/>
                        </a:rPr>
                        <a:t>Strategic Recommendations</a:t>
                      </a:r>
                    </a:p>
                  </a:txBody>
                  <a:tcPr marL="67289" marR="67289" marT="112148" marB="112148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800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18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334</TotalTime>
  <Words>754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Trade Gothic LT Pro</vt:lpstr>
      <vt:lpstr>Arial</vt:lpstr>
      <vt:lpstr>Calibri</vt:lpstr>
      <vt:lpstr>Cambria Math</vt:lpstr>
      <vt:lpstr>Neue Haas Grotesk Text Pro</vt:lpstr>
      <vt:lpstr>Trebuchet MS</vt:lpstr>
      <vt:lpstr>Office Theme</vt:lpstr>
      <vt:lpstr>Spatiotemporal Evolution and Driving Mechanisms of UK Electric Vehicle Adoption</vt:lpstr>
      <vt:lpstr>Background &amp; Research Scope</vt:lpstr>
      <vt:lpstr>The "Green Divide"</vt:lpstr>
      <vt:lpstr>The Wealth Constraint</vt:lpstr>
      <vt:lpstr>Feature Importance Attribution</vt:lpstr>
      <vt:lpstr>Unlocking Tipping Points</vt:lpstr>
      <vt:lpstr>The Forecasting Engine</vt:lpstr>
      <vt:lpstr>The 2035 Regional Extremes </vt:lpstr>
      <vt:lpstr>Strategic Recommendations</vt:lpstr>
      <vt:lpstr>Team Contributions &amp;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Wang</dc:creator>
  <cp:lastModifiedBy>Alex Wang</cp:lastModifiedBy>
  <cp:revision>41</cp:revision>
  <dcterms:created xsi:type="dcterms:W3CDTF">2026-03-09T20:29:08Z</dcterms:created>
  <dcterms:modified xsi:type="dcterms:W3CDTF">2026-03-10T15:28:02Z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